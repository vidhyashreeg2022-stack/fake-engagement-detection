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K Grotesk" charset="1" panose="00000500000000000000"/>
      <p:regular r:id="rId17"/>
    </p:embeddedFont>
    <p:embeddedFont>
      <p:font typeface="Noto Serif Display ExtraCondensed Light" charset="1" panose="02020406080505020204"/>
      <p:regular r:id="rId18"/>
    </p:embeddedFont>
    <p:embeddedFont>
      <p:font typeface="HK Grotesk Semi-Bold" charset="1" panose="00000700000000000000"/>
      <p:regular r:id="rId19"/>
    </p:embeddedFont>
    <p:embeddedFont>
      <p:font typeface="HK Grotesk Bold" charset="1" panose="00000800000000000000"/>
      <p:regular r:id="rId20"/>
    </p:embeddedFont>
    <p:embeddedFont>
      <p:font typeface="Open Sans Semi-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97" r="0" b="-59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3402330"/>
            <a:ext cx="6886575" cy="6160770"/>
            <a:chOff x="0" y="0"/>
            <a:chExt cx="9182100" cy="821436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5556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Presented by Vidhyashree G, 22MIA1089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8600"/>
              <a:ext cx="9182100" cy="6558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525"/>
                </a:lnSpc>
              </a:pPr>
              <a:r>
                <a:rPr lang="en-US" sz="12525" spc="-250">
                  <a:solidFill>
                    <a:srgbClr val="ECF0F1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Fake Engagement Detection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9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5448300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ECF0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4761017"/>
            <a:ext cx="6673562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Social me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ia platforms incr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asi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gl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y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exper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ce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fake engagement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gene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ra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ted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by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bots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,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automated scripts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,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an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co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or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dina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ed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enga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ge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me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t gro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ps. These activities artificially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in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flat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e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likes, comments, and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interactions,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making g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nuine behaviou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difficult t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di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sti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ng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uish.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Tradi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ional spam filte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s detect only ba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ic pat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erns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and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f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il agains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advanced,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h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uma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n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-l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ke a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tiv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ity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  <a:p>
            <a:pPr algn="l" marL="0" indent="0" lvl="0">
              <a:lnSpc>
                <a:spcPts val="2879"/>
              </a:lnSpc>
            </a:pPr>
          </a:p>
          <a:p>
            <a:pPr algn="l" marL="0" indent="0" lvl="0">
              <a:lnSpc>
                <a:spcPts val="2879"/>
              </a:lnSpc>
            </a:pP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This pr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ject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aim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t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o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d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nt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i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fy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a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nd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la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ssi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f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y a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tificial engage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m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ent u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ing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be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h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avi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ou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ral,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netw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or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k, l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in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guis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ic, an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d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tempo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al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 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p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atte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rn</a:t>
            </a:r>
            <a:r>
              <a:rPr lang="en-US" sz="2400" strike="noStrike" u="none">
                <a:solidFill>
                  <a:srgbClr val="ECF0F1"/>
                </a:solidFill>
                <a:latin typeface="HK Grotesk"/>
                <a:ea typeface="HK Grotesk"/>
                <a:cs typeface="HK Grotesk"/>
                <a:sym typeface="HK Grotesk"/>
              </a:rPr>
              <a:t>s.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676275"/>
            <a:ext cx="1217295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9629775"/>
            <a:ext cx="1217295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858125" y="0"/>
            <a:ext cx="10429875" cy="10287000"/>
            <a:chOff x="0" y="0"/>
            <a:chExt cx="1615861" cy="1593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5861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15861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" t="0" r="-2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372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ECF0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Key Features for Detecting Fake Engagement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619672"/>
            <a:chOff x="0" y="0"/>
            <a:chExt cx="5346700" cy="21595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Engagement intervals reveal user activity patterns.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Temporal Features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618693"/>
            <a:chOff x="0" y="0"/>
            <a:chExt cx="5346700" cy="21582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Unique profiles engaged indicate social dynamics.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Network Features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619250"/>
            <a:chOff x="0" y="0"/>
            <a:chExt cx="5346700" cy="21590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Comment similarities highlight user behavior trends.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Linguistic Features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3449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5434" y="5143500"/>
            <a:ext cx="6886575" cy="2705100"/>
            <a:chOff x="0" y="0"/>
            <a:chExt cx="9182100" cy="36068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XGBoost Classifier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XGBoost Classifier is utilized to </a:t>
              </a:r>
              <a:r>
                <a:rPr lang="en-US" b="true" sz="2400" strike="noStrike" u="none">
                  <a:solidFill>
                    <a:srgbClr val="ECF0F1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predict bot probability</a:t>
              </a:r>
              <a:r>
                <a:rPr lang="en-US" sz="240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leveraging gradient boosting to enhance accuracy and reduce overfitting, making it effective for identifying automated accounts in social media.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98505" y="5143500"/>
            <a:ext cx="6886575" cy="2705100"/>
            <a:chOff x="0" y="0"/>
            <a:chExt cx="9182100" cy="36068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Random Forest Regressor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Random Forest Regressor is employed for </a:t>
              </a:r>
              <a:r>
                <a:rPr lang="en-US" b="true" sz="2400" strike="noStrike" u="none">
                  <a:solidFill>
                    <a:srgbClr val="ECF0F1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authenticity scoring</a:t>
              </a:r>
              <a:r>
                <a:rPr lang="en-US" sz="240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using ensemble learning to assess engagement patterns, providing a robust measure of user authenticity while minimizing prediction errors.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ECF0F1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Machine Learning Models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Techniques for Detecting Fake Engagement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372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ECF0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End-to-End System Pipeline 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953047"/>
            <a:chOff x="0" y="0"/>
            <a:chExt cx="5346700" cy="26040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Collecting behavioural and linguistic data inputs efficiently.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Data Ingestion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952068"/>
            <a:chOff x="0" y="0"/>
            <a:chExt cx="5346700" cy="26027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Preparing data through encoding, scaling, and noise removal.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Preprocessing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600200"/>
            <a:chOff x="0" y="0"/>
            <a:chExt cx="5346700" cy="21336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Crafting new metrics to enhance detection capabilities.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Feature Engineering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9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02616" y="2160503"/>
            <a:ext cx="17525037" cy="5980419"/>
          </a:xfrm>
          <a:custGeom>
            <a:avLst/>
            <a:gdLst/>
            <a:ahLst/>
            <a:cxnLst/>
            <a:rect r="r" b="b" t="t" l="l"/>
            <a:pathLst>
              <a:path h="5980419" w="17525037">
                <a:moveTo>
                  <a:pt x="0" y="0"/>
                </a:moveTo>
                <a:lnTo>
                  <a:pt x="17525037" y="0"/>
                </a:lnTo>
                <a:lnTo>
                  <a:pt x="17525037" y="5980419"/>
                </a:lnTo>
                <a:lnTo>
                  <a:pt x="0" y="5980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49459"/>
            <a:ext cx="15310255" cy="747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0"/>
              </a:lnSpc>
            </a:pPr>
            <a:r>
              <a:rPr lang="en-US" sz="3500" spc="-70">
                <a:solidFill>
                  <a:srgbClr val="ECF0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Classification</a:t>
            </a:r>
          </a:p>
          <a:p>
            <a:pPr algn="l" marL="0" indent="0" lvl="0">
              <a:lnSpc>
                <a:spcPts val="3500"/>
              </a:lnSpc>
            </a:pPr>
          </a:p>
          <a:p>
            <a:pPr algn="l" marL="755785" indent="-377892" lvl="1">
              <a:lnSpc>
                <a:spcPts val="3500"/>
              </a:lnSpc>
              <a:buFont typeface="Arial"/>
              <a:buChar char="•"/>
            </a:pPr>
            <a:r>
              <a:rPr lang="en-US" sz="3500" spc="-70">
                <a:solidFill>
                  <a:srgbClr val="ECF0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Accuracy: High</a:t>
            </a:r>
          </a:p>
          <a:p>
            <a:pPr algn="l" marL="755785" indent="-377892" lvl="1">
              <a:lnSpc>
                <a:spcPts val="3500"/>
              </a:lnSpc>
              <a:buFont typeface="Arial"/>
              <a:buChar char="•"/>
            </a:pPr>
            <a:r>
              <a:rPr lang="en-US" sz="3500" spc="-70">
                <a:solidFill>
                  <a:srgbClr val="ECF0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Precision: Strong (avoids false bot flags)</a:t>
            </a:r>
          </a:p>
          <a:p>
            <a:pPr algn="l" marL="755785" indent="-377892" lvl="1">
              <a:lnSpc>
                <a:spcPts val="3500"/>
              </a:lnSpc>
              <a:buFont typeface="Arial"/>
              <a:buChar char="•"/>
            </a:pPr>
            <a:r>
              <a:rPr lang="en-US" sz="3500" spc="-70">
                <a:solidFill>
                  <a:srgbClr val="ECF0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Recall: High (detects fake users)</a:t>
            </a:r>
          </a:p>
          <a:p>
            <a:pPr algn="l" marL="755785" indent="-377892" lvl="1">
              <a:lnSpc>
                <a:spcPts val="3500"/>
              </a:lnSpc>
              <a:buFont typeface="Arial"/>
              <a:buChar char="•"/>
            </a:pPr>
            <a:r>
              <a:rPr lang="en-US" sz="3500" spc="-70">
                <a:solidFill>
                  <a:srgbClr val="ECF0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F1 Score: Balanced final measure</a:t>
            </a:r>
          </a:p>
          <a:p>
            <a:pPr algn="l">
              <a:lnSpc>
                <a:spcPts val="3500"/>
              </a:lnSpc>
            </a:pPr>
          </a:p>
          <a:p>
            <a:pPr algn="l" marL="0" indent="0" lvl="0">
              <a:lnSpc>
                <a:spcPts val="3500"/>
              </a:lnSpc>
            </a:pPr>
            <a:r>
              <a:rPr lang="en-US" sz="3500" spc="-70">
                <a:solidFill>
                  <a:srgbClr val="ECF0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Regression</a:t>
            </a:r>
          </a:p>
          <a:p>
            <a:pPr algn="l" marL="0" indent="0" lvl="0">
              <a:lnSpc>
                <a:spcPts val="3500"/>
              </a:lnSpc>
            </a:pPr>
          </a:p>
          <a:p>
            <a:pPr algn="l" marL="755785" indent="-377892" lvl="1">
              <a:lnSpc>
                <a:spcPts val="3500"/>
              </a:lnSpc>
              <a:buFont typeface="Arial"/>
              <a:buChar char="•"/>
            </a:pPr>
            <a:r>
              <a:rPr lang="en-US" sz="3500" spc="-70">
                <a:solidFill>
                  <a:srgbClr val="ECF0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Low MAE &amp; RMSE</a:t>
            </a:r>
          </a:p>
          <a:p>
            <a:pPr algn="l" marL="755785" indent="-377892" lvl="1">
              <a:lnSpc>
                <a:spcPts val="3500"/>
              </a:lnSpc>
              <a:buFont typeface="Arial"/>
              <a:buChar char="•"/>
            </a:pPr>
            <a:r>
              <a:rPr lang="en-US" sz="3500" spc="-70">
                <a:solidFill>
                  <a:srgbClr val="ECF0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Strong R² for authenticity prediction</a:t>
            </a:r>
          </a:p>
          <a:p>
            <a:pPr algn="l">
              <a:lnSpc>
                <a:spcPts val="3500"/>
              </a:lnSpc>
            </a:pPr>
          </a:p>
          <a:p>
            <a:pPr algn="l" marL="0" indent="0" lvl="0">
              <a:lnSpc>
                <a:spcPts val="3500"/>
              </a:lnSpc>
            </a:pPr>
            <a:r>
              <a:rPr lang="en-US" sz="3500" spc="-70">
                <a:solidFill>
                  <a:srgbClr val="ECF0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Anomaly Detection</a:t>
            </a:r>
          </a:p>
          <a:p>
            <a:pPr algn="l" marL="0" indent="0" lvl="0">
              <a:lnSpc>
                <a:spcPts val="3500"/>
              </a:lnSpc>
            </a:pPr>
          </a:p>
          <a:p>
            <a:pPr algn="l" marL="755785" indent="-377892" lvl="1">
              <a:lnSpc>
                <a:spcPts val="3500"/>
              </a:lnSpc>
              <a:buFont typeface="Arial"/>
              <a:buChar char="•"/>
            </a:pPr>
            <a:r>
              <a:rPr lang="en-US" sz="3500" spc="-70">
                <a:solidFill>
                  <a:srgbClr val="ECF0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Clear separation of suspicious users</a:t>
            </a:r>
          </a:p>
          <a:p>
            <a:pPr algn="l" marL="755785" indent="-377892" lvl="1">
              <a:lnSpc>
                <a:spcPts val="3500"/>
              </a:lnSpc>
              <a:buFont typeface="Arial"/>
              <a:buChar char="•"/>
            </a:pPr>
            <a:r>
              <a:rPr lang="en-US" sz="3500" spc="-70">
                <a:solidFill>
                  <a:srgbClr val="ECF0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Detected coordinated clusters with high compactness</a:t>
            </a:r>
          </a:p>
          <a:p>
            <a:pPr algn="l" marL="0" indent="0" lvl="0">
              <a:lnSpc>
                <a:spcPts val="3500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06316" y="1084255"/>
            <a:ext cx="1059715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899">
                <a:solidFill>
                  <a:srgbClr val="ECF0F1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K</a:t>
            </a:r>
            <a:r>
              <a:rPr lang="en-US" b="true" sz="3899">
                <a:solidFill>
                  <a:srgbClr val="ECF0F1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ey Findings from Behavioural Insights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493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ECF0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Key Findings from Behavioural Insights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953047"/>
            <a:chOff x="0" y="0"/>
            <a:chExt cx="5346700" cy="26040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Short engagement intervals indicate strong automation presence.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Engagement Intervals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599643"/>
            <a:chOff x="0" y="0"/>
            <a:chExt cx="5346700" cy="21328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High similarity in comments often flags potential bots.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Comment Similarity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600200"/>
            <a:chOff x="0" y="0"/>
            <a:chExt cx="5346700" cy="21336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939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Night-time spikes in activity are common among bots.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Night Activity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3449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4405167"/>
            <a:ext cx="6886575" cy="2705100"/>
            <a:chOff x="0" y="0"/>
            <a:chExt cx="9182100" cy="36068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Remove Fake Engagement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detection system effectively identifies and eliminates </a:t>
              </a:r>
              <a:r>
                <a:rPr lang="en-US" b="true" sz="2400" strike="noStrike" u="none">
                  <a:solidFill>
                    <a:srgbClr val="ECF0F1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fake likes, followers</a:t>
              </a:r>
              <a:r>
                <a:rPr lang="en-US" sz="240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and comments, ensuring a more authentic experience for users and fostering genuine interactions on social media platforms.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4405167"/>
            <a:ext cx="6886575" cy="2705100"/>
            <a:chOff x="0" y="0"/>
            <a:chExt cx="9182100" cy="36068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Prevent Trend Manipulation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By addressing the issue of fake engagement, the system helps prevent the </a:t>
              </a:r>
              <a:r>
                <a:rPr lang="en-US" b="true" sz="2400" strike="noStrike" u="none">
                  <a:solidFill>
                    <a:srgbClr val="ECF0F1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manipulation of trending topics</a:t>
              </a:r>
              <a:r>
                <a:rPr lang="en-US" sz="240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enabling genuine content to rise organically and enhancing the trust of users in platform integrity.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ECF0F1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Practical Impact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Real-World Benefits and Applications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493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ECF0F1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Future Research Directions in Engagement Detection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953047"/>
            <a:chOff x="0" y="0"/>
            <a:chExt cx="5346700" cy="26040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Employs sophisticated algorithms for improved detection accuracy.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Deep Learning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952068"/>
            <a:chOff x="0" y="0"/>
            <a:chExt cx="5346700" cy="26027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Facilitates immediate identification of fake engagements online.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Real-Time Detection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952625"/>
            <a:chOff x="0" y="0"/>
            <a:chExt cx="5346700" cy="26035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</a:pPr>
              <a:r>
                <a:rPr lang="en-US" sz="2370" strike="noStrike" u="none">
                  <a:solidFill>
                    <a:srgbClr val="ECF0F1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Enhances detection across multiple social media platforms.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BDC3C7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Behavioral Fingerprinting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9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161586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861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15861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4128175"/>
            <a:ext cx="5448300" cy="2049700"/>
            <a:chOff x="0" y="0"/>
            <a:chExt cx="7264400" cy="273293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80975"/>
              <a:ext cx="72644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ECF0F1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Thank You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50333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0" y="676275"/>
            <a:ext cx="7858125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0" y="9629775"/>
            <a:ext cx="7858125" cy="0"/>
          </a:xfrm>
          <a:prstGeom prst="line">
            <a:avLst/>
          </a:prstGeom>
          <a:ln cap="flat" w="19050">
            <a:solidFill>
              <a:srgbClr val="ECF0F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Fake Engagement Detection</dc:description>
  <dc:identifier>DAHCrBMK13E</dc:identifier>
  <dcterms:modified xsi:type="dcterms:W3CDTF">2011-08-01T06:04:30Z</dcterms:modified>
  <cp:revision>1</cp:revision>
  <dc:title>Presentation - Fake Engagement Detection</dc:title>
</cp:coreProperties>
</file>